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389120" cy="4389120"/>
          </a:xfrm>
          <a:prstGeom prst="ellipse">
            <a:avLst/>
          </a:prstGeom>
          <a:solidFill>
            <a:srgbClr val="E8762C">
              <a:alpha val="12000"/>
            </a:srgbClr>
          </a:solidFill>
          <a:ln w="12700">
            <a:solidFill>
              <a:srgbClr val="E8762C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OH-LSQ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Scheduling &amp; Queue Engine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411480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63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patient call tracked. Every retry enforced. Every missed lead visible."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Health  ·  Internal Tool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77640" cy="347472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97764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481328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356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of patients get fewer than 3 call attempts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" y="2103120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574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tracked in WhatsApp threads and sticky notes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" y="2724912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7919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learn about missed leads after revenue is already lost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" y="334670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30098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spend 15–20% of time on recall logistics, not calling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868680"/>
            <a:ext cx="3977640" cy="347472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868680"/>
            <a:ext cx="3977640" cy="5486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481328"/>
            <a:ext cx="118872" cy="11887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4356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enforces a second call attempt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0" y="2103120"/>
            <a:ext cx="118872" cy="11887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0574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schedules the callback a patient requested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0" y="2724912"/>
            <a:ext cx="118872" cy="11887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67919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manager visibility into queue health or SLA compliance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0" y="3346704"/>
            <a:ext cx="118872" cy="11887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30098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depends on agent memory — not system enforcement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process design failure — not a people failure."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OH-LSQ WORKS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103120" cy="1691640"/>
          </a:xfrm>
          <a:prstGeom prst="rect">
            <a:avLst/>
          </a:prstGeom>
          <a:solidFill>
            <a:srgbClr val="1C2340"/>
          </a:solidFill>
          <a:ln w="9525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103120" cy="329184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77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places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READY_FOR_CALLING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554480"/>
            <a:ext cx="2743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149504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62C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103120" cy="1691640"/>
          </a:xfrm>
          <a:prstGeom prst="rect">
            <a:avLst/>
          </a:prstGeom>
          <a:solidFill>
            <a:srgbClr val="1C2340"/>
          </a:solidFill>
          <a:ln w="19050">
            <a:solidFill>
              <a:srgbClr val="E8762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777240"/>
            <a:ext cx="2103120" cy="32918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777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OH-LSQ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170432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created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task in 10 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554480"/>
            <a:ext cx="2743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49504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62C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777240"/>
            <a:ext cx="2103120" cy="1691640"/>
          </a:xfrm>
          <a:prstGeom prst="rect">
            <a:avLst/>
          </a:prstGeom>
          <a:solidFill>
            <a:srgbClr val="1C2340"/>
          </a:solidFill>
          <a:ln w="9525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777240"/>
            <a:ext cx="2103120" cy="329184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777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170432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detail +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554480"/>
            <a:ext cx="2743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149504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62C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777240"/>
            <a:ext cx="2103120" cy="1691640"/>
          </a:xfrm>
          <a:prstGeom prst="rect">
            <a:avLst/>
          </a:prstGeom>
          <a:solidFill>
            <a:srgbClr val="1C2340"/>
          </a:solidFill>
          <a:ln w="9525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777240"/>
            <a:ext cx="2103120" cy="329184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777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Follow-up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1170432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task scheduled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Callback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done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633472"/>
            <a:ext cx="8686800" cy="274320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633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HANDLED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944368"/>
            <a:ext cx="2743200" cy="173736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944368"/>
            <a:ext cx="274320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6576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in 4 hours. Auto-scheduled.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36392" y="2944368"/>
            <a:ext cx="2743200" cy="173736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36392" y="2944368"/>
            <a:ext cx="274320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73552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said Call Later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73552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at requested time. Auto-scheduled.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44184" y="2944368"/>
            <a:ext cx="2743200" cy="173736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44184" y="2944368"/>
            <a:ext cx="274320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181344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cancels mid-call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81344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notified instantly via real-time alert.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88920" cy="1920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7889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384048" cy="384048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932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98755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Task Queue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always know their next action. Overdue callbacks surface first. No manual sorting or decision-making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788920" cy="1920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7889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960120"/>
            <a:ext cx="384048" cy="384048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932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98755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Agent Assignment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4173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owns all follow-ups for a lead. Floats to any available agent if original is offline.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788920" cy="1920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7889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960120"/>
            <a:ext cx="384048" cy="384048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932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98755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(SSE)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OMS updates or cancels a lead mid-call, the agent sees an instant banner — no page refresh required.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926080"/>
            <a:ext cx="2788920" cy="1920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26080"/>
            <a:ext cx="27889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63240"/>
            <a:ext cx="384048" cy="384048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309067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Protection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row-locking prevents double-assignment across 7–20 simultaneous agents. Zero duplicates.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4680" y="2926080"/>
            <a:ext cx="2788920" cy="1920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926080"/>
            <a:ext cx="27889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063240"/>
            <a:ext cx="384048" cy="384048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49040" y="309067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Scheduling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after 11 PM auto-hold until 8 AM. Configurable shift windows. No patients disturbed overnight.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926080"/>
            <a:ext cx="2788920" cy="1920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26080"/>
            <a:ext cx="278892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063240"/>
            <a:ext cx="384048" cy="384048"/>
          </a:xfrm>
          <a:prstGeom prst="ellipse">
            <a:avLst/>
          </a:prstGeom>
          <a:solidFill>
            <a:srgbClr val="E8762C">
              <a:alpha val="20000"/>
            </a:srgbClr>
          </a:solidFill>
          <a:ln w="12700">
            <a:solidFill>
              <a:srgbClr val="E8762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75120" y="309067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state change, and assignment logged with timestamp and actor. Visible inline on any lead.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VISIBILITY &amp; CONTROL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1828800" cy="12344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8288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92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1609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804672"/>
            <a:ext cx="1828800" cy="12344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804672"/>
            <a:ext cx="1828800" cy="36576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9692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286000" y="1609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21992"/>
            <a:ext cx="1828800" cy="12344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21992"/>
            <a:ext cx="1828800" cy="36576"/>
          </a:xfrm>
          <a:prstGeom prst="rect">
            <a:avLst/>
          </a:prstGeom>
          <a:solidFill>
            <a:srgbClr val="D1D8F0"/>
          </a:solidFill>
          <a:ln w="12700">
            <a:solidFill>
              <a:srgbClr val="D1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8658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56032" y="30266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2221992"/>
            <a:ext cx="1828800" cy="12344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0" y="2221992"/>
            <a:ext cx="18288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38658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2286000" y="30266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639312"/>
            <a:ext cx="1828800" cy="12344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39312"/>
            <a:ext cx="182880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03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256032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CBs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3639312"/>
            <a:ext cx="1828800" cy="123444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0" y="3639312"/>
            <a:ext cx="1828800" cy="36576"/>
          </a:xfrm>
          <a:prstGeom prst="rect">
            <a:avLst/>
          </a:prstGeom>
          <a:solidFill>
            <a:srgbClr val="7B88B8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803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228600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Queue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1688" y="777240"/>
            <a:ext cx="36576" cy="4206240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804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MANAGERS CAN 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11704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170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8032" y="11612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agent's calls, connections, and conversions in real time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16276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1627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16184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 queue — tasks waiting because no agents were online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0" y="20848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20756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assign or bulk-reassign tasks to any agent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0" y="25420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25328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leads by any state, agent, city, doctor, or date range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0" y="29992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8032" y="29900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any filtered result set as CSV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0" y="34564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28032" y="34472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UNREACHABLE leads for another round of attempts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0" y="39136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28032" y="39044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priority bucket order via drag-and-drop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72000" y="4370832"/>
            <a:ext cx="201168" cy="201168"/>
          </a:xfrm>
          <a:prstGeom prst="ellipse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4370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28032" y="43616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operating hours and SLA windows in admin panel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11680" cy="324612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011680" cy="5486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182880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82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3-Attempt 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baseline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41448" y="822960"/>
            <a:ext cx="2011680" cy="324612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822960"/>
            <a:ext cx="2011680" cy="5486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2888" y="1207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3288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32888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min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2532888" y="3063240"/>
            <a:ext cx="182880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3182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32888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target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54296" y="822960"/>
            <a:ext cx="2011680" cy="324612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4296" y="822960"/>
            <a:ext cx="2011680" cy="5486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45736" y="1207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45736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45736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45736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745736" y="3063240"/>
            <a:ext cx="182880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3182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Callback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45736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scheduled callbacks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67144" y="822960"/>
            <a:ext cx="2011680" cy="3246120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67144" y="822960"/>
            <a:ext cx="2011680" cy="5486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58584" y="1207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58584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58584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8584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+10–15%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6958584" y="3063240"/>
            <a:ext cx="182880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3182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Lead-to-Booking Conversion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58584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expected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metric is measurable from day 1 — no manual tracking required."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61288"/>
            <a:ext cx="8138160" cy="36576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1042416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417320"/>
            <a:ext cx="2788920" cy="3456432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17320"/>
            <a:ext cx="27889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Now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256032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30552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30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webhook integration (create / update / cancel)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87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task engine with full retry logic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25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queue with real-time SSE notifications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0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318211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assignment with concurrency safety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57016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57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3538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 — live stats &amp; performance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13632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" y="38953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scheduling + SLA alerts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70248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70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42519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assign + CSV export + Audit trail UI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87368" y="1042416"/>
            <a:ext cx="256032" cy="256032"/>
          </a:xfrm>
          <a:prstGeom prst="ellipse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18688" y="1417320"/>
            <a:ext cx="2788920" cy="3456432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1417320"/>
            <a:ext cx="2788920" cy="54864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28416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Depth — Next Quarter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28416" y="2039112"/>
            <a:ext cx="256032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28416" y="2130552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8416" y="2130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57016" y="21122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Ozontel integration (click-to-call, phone masking)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28416" y="2487168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2487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57016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write-back (slot confirmation sync)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28416" y="2843784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28416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57016" y="2825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on state transitions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28416" y="3200400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28416" y="3200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557016" y="318211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queue with rate-limited onboarding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28416" y="3557016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28416" y="3557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557016" y="35387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assignment enforcement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50024" y="1042416"/>
            <a:ext cx="256032" cy="256032"/>
          </a:xfrm>
          <a:prstGeom prst="ellipse">
            <a:avLst/>
          </a:prstGeom>
          <a:solidFill>
            <a:srgbClr val="7B88B8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81344" y="1417320"/>
            <a:ext cx="2788920" cy="3456432"/>
          </a:xfrm>
          <a:prstGeom prst="rect">
            <a:avLst/>
          </a:prstGeom>
          <a:solidFill>
            <a:srgbClr val="1C2340"/>
          </a:solidFill>
          <a:ln w="12700">
            <a:solidFill>
              <a:srgbClr val="24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81344" y="1417320"/>
            <a:ext cx="2788920" cy="54864"/>
          </a:xfrm>
          <a:prstGeom prst="rect">
            <a:avLst/>
          </a:prstGeom>
          <a:solidFill>
            <a:srgbClr val="7B88B8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91072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291072" y="1764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— H2 2026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91072" y="2039112"/>
            <a:ext cx="2560320" cy="18288"/>
          </a:xfrm>
          <a:prstGeom prst="rect">
            <a:avLst/>
          </a:prstGeom>
          <a:solidFill>
            <a:srgbClr val="242B4A"/>
          </a:solidFill>
          <a:ln w="12700">
            <a:solidFill>
              <a:srgbClr val="242B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91072" y="2130552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2130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19672" y="21122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lead prioritization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91072" y="2487168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2487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19672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callback timing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91072" y="2843784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519672" y="2825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reminders (WhatsApp / SMS)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91072" y="3200400"/>
            <a:ext cx="182880" cy="182880"/>
          </a:xfrm>
          <a:prstGeom prst="ellipse">
            <a:avLst/>
          </a:prstGeom>
          <a:solidFill>
            <a:srgbClr val="242B4A"/>
          </a:solidFill>
          <a:ln w="12700">
            <a:solidFill>
              <a:srgbClr val="7B8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1072" y="3200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88B8"/>
                </a:solidFill>
              </a:rPr>
              <a:t>○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519672" y="318211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conversion attribution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762C"/>
          </a:solidFill>
          <a:ln w="12700">
            <a:solidFill>
              <a:srgbClr val="E8762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platform.  No more missed patients.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OH-LSQ Stakeholder Review</dc:title>
  <dc:subject>PptxGenJS Presentation</dc:subject>
  <dc:creator>Orange Health Product</dc:creator>
  <cp:lastModifiedBy>Orange Health Product</cp:lastModifiedBy>
  <cp:revision>1</cp:revision>
  <dcterms:created xsi:type="dcterms:W3CDTF">2026-04-30T05:25:59Z</dcterms:created>
  <dcterms:modified xsi:type="dcterms:W3CDTF">2026-04-30T05:25:59Z</dcterms:modified>
</cp:coreProperties>
</file>